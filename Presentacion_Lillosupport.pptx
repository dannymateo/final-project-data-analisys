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2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FEE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E0-4730-8801-B0A42D97EB77}"/>
              </c:ext>
            </c:extLst>
          </c:dPt>
          <c:dPt>
            <c:idx val="1"/>
            <c:bubble3D val="0"/>
            <c:spPr>
              <a:solidFill>
                <a:srgbClr val="C3B6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E0-4730-8801-B0A42D97EB7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E0-4730-8801-B0A42D97EB7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E0-4730-8801-B0A42D97EB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Cumplió ANS</c:v>
                </c:pt>
                <c:pt idx="1">
                  <c:v>Incumplió ANS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E0-4730-8801-B0A42D97E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FFFFFF"/>
                </a:solidFill>
                <a:latin typeface="Arial"/>
              </a:rPr>
              <a:t>Tasa cumplimiento ANS por prioridad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cumplimiento %</c:v>
                </c:pt>
              </c:strCache>
            </c:strRef>
          </c:tx>
          <c:spPr>
            <a:solidFill>
              <a:srgbClr val="62C6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Baja</c:v>
                </c:pt>
                <c:pt idx="1">
                  <c:v>Media</c:v>
                </c:pt>
                <c:pt idx="2">
                  <c:v>Alta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48.4</c:v>
                </c:pt>
                <c:pt idx="1">
                  <c:v>61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4-4CD7-BED5-EB7D86D8A4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FFFFFF"/>
                </a:solidFill>
                <a:latin typeface="Arial"/>
              </a:rPr>
              <a:t>Tasa de cumplimiento ANS por tipo de servicio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cumplimiento %</c:v>
                </c:pt>
              </c:strCache>
            </c:strRef>
          </c:tx>
          <c:spPr>
            <a:solidFill>
              <a:srgbClr val="62C6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Activo en venta</c:v>
                </c:pt>
                <c:pt idx="1">
                  <c:v>Cambio de activo</c:v>
                </c:pt>
                <c:pt idx="2">
                  <c:v>C. activo menor</c:v>
                </c:pt>
                <c:pt idx="3">
                  <c:v>Ingreso empleado</c:v>
                </c:pt>
                <c:pt idx="4">
                  <c:v>Activo menor v.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34.1</c:v>
                </c:pt>
                <c:pt idx="2">
                  <c:v>83.3</c:v>
                </c:pt>
                <c:pt idx="3">
                  <c:v>85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10-4340-A48C-685856DAC9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FFFFFF"/>
                </a:solidFill>
                <a:latin typeface="Arial"/>
              </a:rPr>
              <a:t>Incidencias creadas por día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Incidencias creadas</c:v>
                </c:pt>
              </c:strCache>
            </c:strRef>
          </c:tx>
          <c:spPr>
            <a:solidFill>
              <a:srgbClr val="62C6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17</c:v>
                </c:pt>
                <c:pt idx="2">
                  <c:v>27</c:v>
                </c:pt>
                <c:pt idx="3">
                  <c:v>7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5-42FF-8ED3-3E101ACBEB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FFFFFF"/>
                </a:solidFill>
                <a:latin typeface="Arial"/>
              </a:rPr>
              <a:t>Incidencias cerradas por día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Incidencias cerradas</c:v>
                </c:pt>
              </c:strCache>
            </c:strRef>
          </c:tx>
          <c:spPr>
            <a:solidFill>
              <a:srgbClr val="EF9F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14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17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E1-4D6E-B332-64D2256F3F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FFFFFF"/>
                </a:solidFill>
                <a:latin typeface="Arial"/>
              </a:rPr>
              <a:t>Cierres — cumplió vs incumplió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Cumplió</c:v>
                </c:pt>
              </c:strCache>
            </c:strRef>
          </c:tx>
          <c:spPr>
            <a:ln w="25400" cap="flat">
              <a:solidFill>
                <a:srgbClr val="BFEE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FEE4D"/>
              </a:solidFill>
              <a:ln w="9525" cap="flat">
                <a:solidFill>
                  <a:srgbClr val="BFEE4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16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259-428D-BD6F-CED9EB8725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Incumplió</c:v>
                </c:pt>
              </c:strCache>
            </c:strRef>
          </c:tx>
          <c:spPr>
            <a:ln w="25400" cap="flat">
              <a:solidFill>
                <a:srgbClr val="C3B6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B6ED"/>
              </a:solidFill>
              <a:ln w="9525" cap="flat">
                <a:solidFill>
                  <a:srgbClr val="C3B6E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9</c:v>
                </c:pt>
                <c:pt idx="2">
                  <c:v>9</c:v>
                </c:pt>
                <c:pt idx="3">
                  <c:v>11</c:v>
                </c:pt>
                <c:pt idx="4">
                  <c:v>8</c:v>
                </c:pt>
                <c:pt idx="5">
                  <c:v>10</c:v>
                </c:pt>
                <c:pt idx="6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259-428D-BD6F-CED9EB8725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FFFFFF"/>
                </a:solidFill>
                <a:latin typeface="Arial"/>
              </a:rPr>
              <a:t>Cumplimiento ANS por tipo de servicio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Cumplió</c:v>
                </c:pt>
              </c:strCache>
            </c:strRef>
          </c:tx>
          <c:spPr>
            <a:solidFill>
              <a:srgbClr val="BFEE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Cambio activo</c:v>
                </c:pt>
                <c:pt idx="1">
                  <c:v>Activo venta</c:v>
                </c:pt>
                <c:pt idx="2">
                  <c:v>Ingreso empl.</c:v>
                </c:pt>
                <c:pt idx="3">
                  <c:v>C. activo men.</c:v>
                </c:pt>
                <c:pt idx="4">
                  <c:v>Activo men. v.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6</c:v>
                </c:pt>
                <c:pt idx="2">
                  <c:v>17</c:v>
                </c:pt>
                <c:pt idx="3">
                  <c:v>10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45-41F0-9AF8-AA7D271426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Incumplió</c:v>
                </c:pt>
              </c:strCache>
            </c:strRef>
          </c:tx>
          <c:spPr>
            <a:solidFill>
              <a:srgbClr val="C3B6E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Cambio activo</c:v>
                </c:pt>
                <c:pt idx="1">
                  <c:v>Activo venta</c:v>
                </c:pt>
                <c:pt idx="2">
                  <c:v>Ingreso empl.</c:v>
                </c:pt>
                <c:pt idx="3">
                  <c:v>C. activo men.</c:v>
                </c:pt>
                <c:pt idx="4">
                  <c:v>Activo men. v.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</c:v>
                </c:pt>
                <c:pt idx="1">
                  <c:v>18</c:v>
                </c:pt>
                <c:pt idx="2">
                  <c:v>3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45-41F0-9AF8-AA7D27142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FFFFFF"/>
                </a:solidFill>
                <a:latin typeface="Arial"/>
              </a:rPr>
              <a:t>Cumplimiento por turno del día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Cumplió</c:v>
                </c:pt>
              </c:strCache>
            </c:strRef>
          </c:tx>
          <c:spPr>
            <a:solidFill>
              <a:srgbClr val="BFEE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Mañana</c:v>
                </c:pt>
                <c:pt idx="1">
                  <c:v>Tarde</c:v>
                </c:pt>
                <c:pt idx="2">
                  <c:v>Noche</c:v>
                </c:pt>
                <c:pt idx="3">
                  <c:v>Madrugada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6E-42A8-B771-FE74E17AD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Incumplió</c:v>
                </c:pt>
              </c:strCache>
            </c:strRef>
          </c:tx>
          <c:spPr>
            <a:solidFill>
              <a:srgbClr val="C3B6E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Mañana</c:v>
                </c:pt>
                <c:pt idx="1">
                  <c:v>Tarde</c:v>
                </c:pt>
                <c:pt idx="2">
                  <c:v>Noche</c:v>
                </c:pt>
                <c:pt idx="3">
                  <c:v>Madrugada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26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6E-42A8-B771-FE74E17AD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FFFFFF"/>
                </a:solidFill>
                <a:latin typeface="Arial"/>
              </a:rPr>
              <a:t>Comparación de modelos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Reg. Logística</c:v>
                </c:pt>
              </c:strCache>
            </c:strRef>
          </c:tx>
          <c:spPr>
            <a:solidFill>
              <a:srgbClr val="62C6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AUC-ROC</c:v>
                </c:pt>
                <c:pt idx="2">
                  <c:v>F1-Score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69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D-4CAC-B868-06EBF6B3C7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BFEE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AUC-ROC</c:v>
                </c:pt>
                <c:pt idx="2">
                  <c:v>F1-Score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</c:v>
                </c:pt>
                <c:pt idx="1">
                  <c:v>79</c:v>
                </c:pt>
                <c:pt idx="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8D-4CAC-B868-06EBF6B3C7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FFFFFF"/>
                </a:solidFill>
                <a:latin typeface="Arial"/>
              </a:rPr>
              <a:t>Importancia de variables — XGBoost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 (%)</c:v>
                </c:pt>
              </c:strCache>
            </c:strRef>
          </c:tx>
          <c:spPr>
            <a:solidFill>
              <a:srgbClr val="62C6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Turno</c:v>
                </c:pt>
                <c:pt idx="1">
                  <c:v>Día de semana</c:v>
                </c:pt>
                <c:pt idx="2">
                  <c:v>Hora de creación</c:v>
                </c:pt>
                <c:pt idx="3">
                  <c:v>Penalidad %</c:v>
                </c:pt>
                <c:pt idx="4">
                  <c:v>Tipo de servicio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10.1</c:v>
                </c:pt>
                <c:pt idx="1">
                  <c:v>12.3</c:v>
                </c:pt>
                <c:pt idx="2">
                  <c:v>15.8</c:v>
                </c:pt>
                <c:pt idx="3">
                  <c:v>19.399999999999999</c:v>
                </c:pt>
                <c:pt idx="4">
                  <c:v>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C7-4CEA-A3A5-1F1CD5D84E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C6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A3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3A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1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Lillo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socio en órbita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Predicción de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Incumplimiento de ANS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Soporte Técnico — Lillosupport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011680" cy="8229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Danny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&amp; ETL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3657600"/>
            <a:ext cx="2011680" cy="8229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Stefany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Análisis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0"/>
            <a:ext cx="2011680" cy="8229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Daihana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657600"/>
            <a:ext cx="2011680" cy="8229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Alejandra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24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del negocio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objetivos y fuente de datos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1645920" cy="3200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02920" cy="5486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556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739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Recopilación &amp; ETL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Extracción, transformación y carga de datos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847088"/>
            <a:ext cx="1645920" cy="3200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470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502920" cy="5486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Exploratorio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hipótesis y hallazgos clave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596896"/>
            <a:ext cx="1645920" cy="3200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5968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55264"/>
            <a:ext cx="502920" cy="5486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5526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273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de Negocios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5295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dashboard Power BI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3346704"/>
            <a:ext cx="1645920" cy="3200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3467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Daihana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05072"/>
            <a:ext cx="502920" cy="5486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050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023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Predictivo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279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Algoritmo, métricas y resultados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4096512"/>
            <a:ext cx="1645920" cy="3200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096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Contexto del negocio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es el problema?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Lillosupport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empresa de soporte técnico que gestiona incidencias de equipos para empresas cliente.
</a:t>
            </a:r>
            <a:r>
              <a:rPr lang="en-US" sz="12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50% de las incidencias incumple el tiempo límite del ANS (Acuerdo de Nivel de Servicio), generando penalidades económicas y afectando la satisfacción del cliente.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proyecto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274320" cy="27432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444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si una incidencia cumplirá o no el 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21408"/>
            <a:ext cx="274320" cy="27432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factores influyen en el incumplimiento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779776"/>
            <a:ext cx="274320" cy="27432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7614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alertas tempranas para reducir penalidades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438144"/>
            <a:ext cx="274320" cy="27432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4198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 la toma de decisiones operativas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Recopilación &amp; ETL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Supabase — Sistema Lillosupport  |  4 tablas unificadas via SQL JOIN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ans_resultados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ans_configuracion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1188720"/>
            <a:ext cx="192024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tipos_servicio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783080"/>
            <a:ext cx="73152" cy="658368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2C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103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de 4 tablas en Supabase SQL Editor → exportado como CSV unificado (100 registros × 26 columnas)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32888"/>
            <a:ext cx="8412480" cy="658368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32888"/>
            <a:ext cx="73152" cy="658368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8529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fechas, variables derivadas: horas_resolucion, turno_creacion, dia_semana_creacion, pct_tiempo_consumido. Nulos tratados con mediana.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82696"/>
            <a:ext cx="8412480" cy="658368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82696"/>
            <a:ext cx="73152" cy="658368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28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objetivo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6027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cumple_ans = 1 si ans_estado_final = 'cumplido', 0 si incumplió. Dataset perfectamente balanceado: 50 cumple / 50 incumple.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8412480" cy="658368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32504"/>
            <a:ext cx="73152" cy="658368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78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3525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BD_limpia.csv — 100 registros listos para EDA y modelado predictivo.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EDA: Estado del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analizaron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registros históricos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914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incidencias, todos en estado Entregado — ciclo de vida completo disponible.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417320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200400" y="1417320"/>
            <a:ext cx="2560320" cy="1097280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2004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Cumplieron ANS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651760"/>
            <a:ext cx="2560320" cy="109728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20040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Incumplieron ANS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1417320"/>
            <a:ext cx="2926080" cy="256032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Hipótesis planteadas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Prioridad baja postergada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304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Complejidad del servicio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Creación nocturna crítica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35040" y="3072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Tiempo límite ajustado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35040" y="3456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— Efecto fin de semana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0D2022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Hallazgo clave: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03120" y="418795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perfectamente equilibrada elimina el sesgo de entrenamiento y hace que las métricas del modelo sean directamente interpretables.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EDA: Insights de Prioridad y Servicio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82837782"/>
              </p:ext>
            </p:extLst>
          </p:nvPr>
        </p:nvGraphicFramePr>
        <p:xfrm>
          <a:off x="274320" y="8229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74320" y="3291840"/>
          <a:ext cx="8595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822960"/>
            <a:ext cx="4297680" cy="237744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091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Concentración de Carga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709160" y="13258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100" b="1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de las incidencias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de prioridad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presentan la menor tasa de cumplimiento: </a:t>
            </a:r>
            <a:r>
              <a:rPr lang="en-US" sz="1100" b="1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0" y="2148840"/>
            <a:ext cx="4297680" cy="960120"/>
          </a:xfrm>
          <a:prstGeom prst="rect">
            <a:avLst/>
          </a:prstGeom>
          <a:solidFill>
            <a:srgbClr val="2A2800"/>
          </a:solidFill>
          <a:ln w="6350">
            <a:solidFill>
              <a:srgbClr val="8A7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09160" y="22402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incidencias de prioridad baja generan el mayor volumen de penalizaciones económicas para Lillo.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EDA: Análisis Temporal de Incidencias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82296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108960" y="82296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035040" y="82296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182880" y="3246120"/>
            <a:ext cx="2103120" cy="164592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" y="3246120"/>
            <a:ext cx="2103120" cy="347472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8288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74320" y="3657600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concentra más creaciones (31) pero pocos cierres el mismo día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423160" y="3246120"/>
            <a:ext cx="2103120" cy="1645920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23160" y="3246120"/>
            <a:ext cx="2103120" cy="347472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42316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514600" y="3657600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tiene el mayor pico de cierres exitosos (16 cumplieron)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63440" y="3246120"/>
            <a:ext cx="2103120" cy="164592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663440" y="3246120"/>
            <a:ext cx="2103120" cy="347472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66344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54880" y="3657600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Jueves: mayor incumplimiento en cierres (11 incumplen)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3246120"/>
            <a:ext cx="2103120" cy="164592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3246120"/>
            <a:ext cx="2103120" cy="347472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0372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Sáb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995160" y="3657600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Sábado: operación activa con tendencia a incumplir (10 vs 7)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Inteligencia de Negocios — Modelo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Daihana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834640" cy="2286000"/>
          </a:xfrm>
          <a:prstGeom prst="rect">
            <a:avLst/>
          </a:prstGeom>
          <a:solidFill>
            <a:srgbClr val="1A3A3C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005840"/>
            <a:ext cx="2834640" cy="347472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05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BI_hechos_incidencias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3990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incidencia_id (PK)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6184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tipo_servicio_id (FK)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8379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cumple_ans 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horas_resolucion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4963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pct_tiempo_consumido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2715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turno_creacion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9352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dia_semana_creacion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2560320" cy="12801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463040"/>
            <a:ext cx="2560320" cy="320040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BI_dim_prioridad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(PK)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nivel_urgencia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463040"/>
            <a:ext cx="2468880" cy="128016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463040"/>
            <a:ext cx="2468880" cy="320040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BI_dim_servicio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tipo_servicio (PK)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dias_limite_config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ans_penalidad_%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474720"/>
            <a:ext cx="2834640" cy="118872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474720"/>
            <a:ext cx="2834640" cy="320040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474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BI_dim_tiempo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8404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fecha_creacion (PK)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40416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nombre_dia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424281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44398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turno_creacion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2103120"/>
            <a:ext cx="365760" cy="0"/>
          </a:xfrm>
          <a:prstGeom prst="line">
            <a:avLst/>
          </a:prstGeom>
          <a:noFill/>
          <a:ln w="12700">
            <a:solidFill>
              <a:srgbClr val="62C6A5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035040" y="2103120"/>
            <a:ext cx="365760" cy="0"/>
          </a:xfrm>
          <a:prstGeom prst="line">
            <a:avLst/>
          </a:prstGeom>
          <a:noFill/>
          <a:ln w="12700">
            <a:solidFill>
              <a:srgbClr val="62C6A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617720" y="3291840"/>
            <a:ext cx="0" cy="182880"/>
          </a:xfrm>
          <a:prstGeom prst="line">
            <a:avLst/>
          </a:prstGeom>
          <a:noFill/>
          <a:ln w="12700">
            <a:solidFill>
              <a:srgbClr val="C3B6ED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Dashboard Power BI — Resumen Ejecutivo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Daihana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91440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2C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incidencias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2011680" cy="914400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cumplimiento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balanceado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2011680" cy="91440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186h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Prom. resolución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6002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~7.7 días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2011680" cy="91440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servicio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6002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venta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1920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5486400" y="1920240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Fase 4 — Modelado Predictivo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compararon dos algoritmos: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868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 vs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32588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486400" y="1325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Rendimiento: XGBoost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0" y="1737360"/>
            <a:ext cx="3383280" cy="347472"/>
          </a:xfrm>
          <a:prstGeom prst="rect">
            <a:avLst/>
          </a:prstGeom>
          <a:solidFill>
            <a:srgbClr val="0D2022"/>
          </a:solidFill>
          <a:ln w="3810">
            <a:solidFill>
              <a:srgbClr val="BFEE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0.79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2157984"/>
            <a:ext cx="3383280" cy="347472"/>
          </a:xfrm>
          <a:prstGeom prst="rect">
            <a:avLst/>
          </a:prstGeom>
          <a:solidFill>
            <a:srgbClr val="0D2022"/>
          </a:solidFill>
          <a:ln w="3810">
            <a:solidFill>
              <a:srgbClr val="BFEE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21579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21579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0" y="2578608"/>
            <a:ext cx="3383280" cy="347472"/>
          </a:xfrm>
          <a:prstGeom prst="rect">
            <a:avLst/>
          </a:prstGeom>
          <a:solidFill>
            <a:srgbClr val="0D2022"/>
          </a:solidFill>
          <a:ln w="3810">
            <a:solidFill>
              <a:srgbClr val="62C6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0" y="25786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2C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0.76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0" y="2999232"/>
            <a:ext cx="3383280" cy="347472"/>
          </a:xfrm>
          <a:prstGeom prst="rect">
            <a:avLst/>
          </a:prstGeom>
          <a:solidFill>
            <a:srgbClr val="0D2022"/>
          </a:solidFill>
          <a:ln w="3810">
            <a:solidFill>
              <a:srgbClr val="62C6A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0" y="2999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2C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0" y="3419856"/>
            <a:ext cx="3383280" cy="347472"/>
          </a:xfrm>
          <a:prstGeom prst="rect">
            <a:avLst/>
          </a:prstGeom>
          <a:solidFill>
            <a:srgbClr val="0D2022"/>
          </a:solidFill>
          <a:ln w="3810">
            <a:solidFill>
              <a:srgbClr val="C3B6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3419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0" y="34198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274320" y="3977640"/>
            <a:ext cx="8595360" cy="96012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041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Interpretación: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identifica correctamente 3 de cada 4 incidencias que incumplirán el ANS — AUC de 0.79 indica alta capacidad de distinguir casos de fallo antes de que ocurran.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¿Qué Determina el Incumplimiento?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3B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4572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914400"/>
            <a:ext cx="457200" cy="100584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914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577840" y="914400"/>
            <a:ext cx="3291840" cy="1005840"/>
          </a:xfrm>
          <a:prstGeom prst="rect">
            <a:avLst/>
          </a:prstGeom>
          <a:solidFill>
            <a:srgbClr val="1A3A3C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9875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Servicio (23.7%)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1298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más determinante. El proceso solicitado condiciona el éxito más que la urgencia declarada.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103120"/>
            <a:ext cx="457200" cy="1005840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103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77840" y="2103120"/>
            <a:ext cx="3291840" cy="1005840"/>
          </a:xfrm>
          <a:prstGeom prst="rect">
            <a:avLst/>
          </a:prstGeom>
          <a:solidFill>
            <a:srgbClr val="1A3A3C"/>
          </a:solidFill>
          <a:ln w="6350">
            <a:solidFill>
              <a:srgbClr val="62C6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176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C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Penalidad % (19.4%)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24871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económico del contrato correlaciona con la probabilidad de incumplimiento.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3291840"/>
            <a:ext cx="457200" cy="1005840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3291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577840" y="3291840"/>
            <a:ext cx="3291840" cy="1005840"/>
          </a:xfrm>
          <a:prstGeom prst="rect">
            <a:avLst/>
          </a:prstGeom>
          <a:solidFill>
            <a:srgbClr val="1A3A3C"/>
          </a:solidFill>
          <a:ln w="6350">
            <a:solidFill>
              <a:srgbClr val="C3B6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364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B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 de Creación (15.8%)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3675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operativo de apertura condiciona la disponibilidad de recursos para la resolución.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2022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FE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✓ Confirmada: el tipo de servicio es el predictor más fuerte del cumplimiento ANS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&amp; Recomendaciones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" cy="749808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7955280" cy="749808"/>
          </a:xfrm>
          <a:prstGeom prst="rect">
            <a:avLst/>
          </a:prstGeom>
          <a:solidFill>
            <a:srgbClr val="1A3A3C"/>
          </a:solidFill>
          <a:ln w="3810">
            <a:solidFill>
              <a:srgbClr val="BFE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9784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ANS se puede predecir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75% de precisión, el modelo XGBoost identifica incidencias en riesgo antes de que venzan.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02920" cy="749808"/>
          </a:xfrm>
          <a:prstGeom prst="rect">
            <a:avLst/>
          </a:prstGeom>
          <a:solidFill>
            <a:srgbClr val="62C6A5"/>
          </a:solidFill>
          <a:ln w="12700">
            <a:solidFill>
              <a:srgbClr val="62C6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4708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1847088"/>
            <a:ext cx="7955280" cy="749808"/>
          </a:xfrm>
          <a:prstGeom prst="rect">
            <a:avLst/>
          </a:prstGeom>
          <a:solidFill>
            <a:srgbClr val="1A3A3C"/>
          </a:solidFill>
          <a:ln w="3810">
            <a:solidFill>
              <a:srgbClr val="62C6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110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servicio es el factor clave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3113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venta (25%) y Cambio de activo (34%) son los servicios con mayor riesgo — reforzar su operación.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502920" cy="749808"/>
          </a:xfrm>
          <a:prstGeom prst="rect">
            <a:avLst/>
          </a:prstGeom>
          <a:solidFill>
            <a:srgbClr val="C3B6ED"/>
          </a:solidFill>
          <a:ln w="12700">
            <a:solidFill>
              <a:srgbClr val="C3B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7977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" y="2779776"/>
            <a:ext cx="7955280" cy="749808"/>
          </a:xfrm>
          <a:prstGeom prst="rect">
            <a:avLst/>
          </a:prstGeom>
          <a:solidFill>
            <a:srgbClr val="1A3A3C"/>
          </a:solidFill>
          <a:ln w="3810">
            <a:solidFill>
              <a:srgbClr val="C3B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8437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Prioridad baja genera más pérdidas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638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91% de incidencias son de prioridad baja con solo 48.4% de cumplimiento — revisar tiempos límite.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502920" cy="749808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1246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F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4400" y="3712464"/>
            <a:ext cx="7955280" cy="749808"/>
          </a:xfrm>
          <a:prstGeom prst="rect">
            <a:avLst/>
          </a:prstGeom>
          <a:solidFill>
            <a:srgbClr val="1A3A3C"/>
          </a:solidFill>
          <a:ln w="3810">
            <a:solidFill>
              <a:srgbClr val="BFEE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7764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Viernes: pico de éxito operacional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965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el patrón del viernes para planificar cierres pendientes de inicio de semana.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2022"/>
          </a:solidFill>
          <a:ln w="6350">
            <a:solidFill>
              <a:srgbClr val="BFEE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Lillo: Acompañamos cada fase de tu misión  —  #UniversoLillo  #ImpulsamosTuFuturo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BFEE4D"/>
          </a:solidFill>
          <a:ln w="12700">
            <a:solidFill>
              <a:srgbClr val="BFE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FE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Lillo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socio en órbita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Daihana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C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979</Words>
  <Application>Microsoft Office PowerPoint</Application>
  <PresentationFormat>Presentación en pantalla (16:9)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Incumplimiento ANS - Lillosupport</dc:title>
  <dc:subject>PptxGenJS Presentation</dc:subject>
  <dc:creator>PptxGenJS</dc:creator>
  <cp:lastModifiedBy>LEIDY DAIHANA MORA TRUJILLO</cp:lastModifiedBy>
  <cp:revision>4</cp:revision>
  <dcterms:created xsi:type="dcterms:W3CDTF">2026-05-20T02:45:15Z</dcterms:created>
  <dcterms:modified xsi:type="dcterms:W3CDTF">2026-06-03T01:18:35Z</dcterms:modified>
</cp:coreProperties>
</file>